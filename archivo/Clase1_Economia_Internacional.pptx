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media/image4.jpg" ContentType="image/jpg"/>
  <Override PartName="/ppt/media/image5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9"/>
    <p:sldId id="278" r:id="rId30"/>
    <p:sldId id="279" r:id="rId31"/>
    <p:sldId id="280" r:id="rId32"/>
    <p:sldId id="281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6/11/relationships/changesInfo" Target="changesInfos/changesInfo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Breard" userId="357114bb492f680b" providerId="LiveId" clId="{FAEAD1D7-D728-438D-BA0B-B36190B94E51}"/>
    <pc:docChg chg="undo custSel modSld">
      <pc:chgData name="Gerardo Breard" userId="357114bb492f680b" providerId="LiveId" clId="{FAEAD1D7-D728-438D-BA0B-B36190B94E51}" dt="2025-12-30T15:06:17.980" v="13" actId="1076"/>
      <pc:docMkLst>
        <pc:docMk/>
      </pc:docMkLst>
      <pc:sldChg chg="modSp mod">
        <pc:chgData name="Gerardo Breard" userId="357114bb492f680b" providerId="LiveId" clId="{FAEAD1D7-D728-438D-BA0B-B36190B94E51}" dt="2025-12-30T15:04:58.230" v="3" actId="14100"/>
        <pc:sldMkLst>
          <pc:docMk/>
          <pc:sldMk cId="0" sldId="257"/>
        </pc:sldMkLst>
        <pc:spChg chg="mod">
          <ac:chgData name="Gerardo Breard" userId="357114bb492f680b" providerId="LiveId" clId="{FAEAD1D7-D728-438D-BA0B-B36190B94E51}" dt="2025-12-30T15:04:51.254" v="2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Gerardo Breard" userId="357114bb492f680b" providerId="LiveId" clId="{FAEAD1D7-D728-438D-BA0B-B36190B94E51}" dt="2025-12-30T15:04:58.230" v="3" actId="14100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Gerardo Breard" userId="357114bb492f680b" providerId="LiveId" clId="{FAEAD1D7-D728-438D-BA0B-B36190B94E51}" dt="2025-12-30T15:05:46.374" v="10" actId="1035"/>
        <pc:sldMkLst>
          <pc:docMk/>
          <pc:sldMk cId="0" sldId="259"/>
        </pc:sldMkLst>
        <pc:spChg chg="mod">
          <ac:chgData name="Gerardo Breard" userId="357114bb492f680b" providerId="LiveId" clId="{FAEAD1D7-D728-438D-BA0B-B36190B94E51}" dt="2025-12-30T15:05:46.374" v="10" actId="1035"/>
          <ac:spMkLst>
            <pc:docMk/>
            <pc:sldMk cId="0" sldId="259"/>
            <ac:spMk id="18" creationId="{00000000-0000-0000-0000-000000000000}"/>
          </ac:spMkLst>
        </pc:spChg>
      </pc:sldChg>
      <pc:sldChg chg="modSp mod">
        <pc:chgData name="Gerardo Breard" userId="357114bb492f680b" providerId="LiveId" clId="{FAEAD1D7-D728-438D-BA0B-B36190B94E51}" dt="2025-12-30T15:06:17.980" v="13" actId="1076"/>
        <pc:sldMkLst>
          <pc:docMk/>
          <pc:sldMk cId="0" sldId="260"/>
        </pc:sldMkLst>
        <pc:spChg chg="mod">
          <ac:chgData name="Gerardo Breard" userId="357114bb492f680b" providerId="LiveId" clId="{FAEAD1D7-D728-438D-BA0B-B36190B94E51}" dt="2025-12-30T15:06:11.912" v="12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Gerardo Breard" userId="357114bb492f680b" providerId="LiveId" clId="{FAEAD1D7-D728-438D-BA0B-B36190B94E51}" dt="2025-12-30T15:06:17.980" v="13" actId="1076"/>
          <ac:spMkLst>
            <pc:docMk/>
            <pc:sldMk cId="0" sldId="260"/>
            <ac:spMk id="9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de comercio (1913=100)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1800</c:v>
                </c:pt>
                <c:pt idx="1">
                  <c:v>1820</c:v>
                </c:pt>
                <c:pt idx="2">
                  <c:v>1840</c:v>
                </c:pt>
                <c:pt idx="3">
                  <c:v>1860</c:v>
                </c:pt>
                <c:pt idx="4">
                  <c:v>1880</c:v>
                </c:pt>
                <c:pt idx="5">
                  <c:v>1900</c:v>
                </c:pt>
                <c:pt idx="6">
                  <c:v>1913</c:v>
                </c:pt>
                <c:pt idx="7">
                  <c:v>1920</c:v>
                </c:pt>
                <c:pt idx="8">
                  <c:v>1929</c:v>
                </c:pt>
                <c:pt idx="9">
                  <c:v>1932</c:v>
                </c:pt>
                <c:pt idx="10">
                  <c:v>1938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2.39</c:v>
                </c:pt>
                <c:pt idx="1">
                  <c:v>3.28</c:v>
                </c:pt>
                <c:pt idx="2">
                  <c:v>7</c:v>
                </c:pt>
                <c:pt idx="3">
                  <c:v>16.77</c:v>
                </c:pt>
                <c:pt idx="4">
                  <c:v>35.29</c:v>
                </c:pt>
                <c:pt idx="5">
                  <c:v>61.08</c:v>
                </c:pt>
                <c:pt idx="6">
                  <c:v>100</c:v>
                </c:pt>
                <c:pt idx="7">
                  <c:v>90.61</c:v>
                </c:pt>
                <c:pt idx="8">
                  <c:v>132.83000000000001</c:v>
                </c:pt>
                <c:pt idx="9">
                  <c:v>95.28</c:v>
                </c:pt>
                <c:pt idx="10">
                  <c:v>114.15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B5-40B1-844E-45AFCBF132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Exportaciones (mundo)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1800</c:v>
                </c:pt>
                <c:pt idx="1">
                  <c:v>1820</c:v>
                </c:pt>
                <c:pt idx="2">
                  <c:v>1840</c:v>
                </c:pt>
                <c:pt idx="3">
                  <c:v>1860</c:v>
                </c:pt>
                <c:pt idx="4">
                  <c:v>1880</c:v>
                </c:pt>
                <c:pt idx="5">
                  <c:v>1900</c:v>
                </c:pt>
                <c:pt idx="6">
                  <c:v>1913</c:v>
                </c:pt>
                <c:pt idx="7">
                  <c:v>1920</c:v>
                </c:pt>
                <c:pt idx="8">
                  <c:v>1929</c:v>
                </c:pt>
                <c:pt idx="9">
                  <c:v>1932</c:v>
                </c:pt>
                <c:pt idx="10">
                  <c:v>1938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436.3</c:v>
                </c:pt>
                <c:pt idx="1">
                  <c:v>560.9</c:v>
                </c:pt>
                <c:pt idx="2">
                  <c:v>1405.3</c:v>
                </c:pt>
                <c:pt idx="3">
                  <c:v>3424.4</c:v>
                </c:pt>
                <c:pt idx="4">
                  <c:v>6721.8</c:v>
                </c:pt>
                <c:pt idx="5">
                  <c:v>9860.5</c:v>
                </c:pt>
                <c:pt idx="6">
                  <c:v>18736.5</c:v>
                </c:pt>
                <c:pt idx="7">
                  <c:v>31960.799999999999</c:v>
                </c:pt>
                <c:pt idx="8">
                  <c:v>32965.699999999997</c:v>
                </c:pt>
                <c:pt idx="9">
                  <c:v>12749.3</c:v>
                </c:pt>
                <c:pt idx="10">
                  <c:v>22023.3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B0-457B-AE3B-BBF1D278F9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Importaciones (mundo)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1800</c:v>
                </c:pt>
                <c:pt idx="1">
                  <c:v>1820</c:v>
                </c:pt>
                <c:pt idx="2">
                  <c:v>1840</c:v>
                </c:pt>
                <c:pt idx="3">
                  <c:v>1860</c:v>
                </c:pt>
                <c:pt idx="4">
                  <c:v>1880</c:v>
                </c:pt>
                <c:pt idx="5">
                  <c:v>1900</c:v>
                </c:pt>
                <c:pt idx="6">
                  <c:v>1913</c:v>
                </c:pt>
                <c:pt idx="7">
                  <c:v>1920</c:v>
                </c:pt>
                <c:pt idx="8">
                  <c:v>1929</c:v>
                </c:pt>
                <c:pt idx="9">
                  <c:v>1932</c:v>
                </c:pt>
                <c:pt idx="10">
                  <c:v>1938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421.8</c:v>
                </c:pt>
                <c:pt idx="1">
                  <c:v>459</c:v>
                </c:pt>
                <c:pt idx="2">
                  <c:v>1289.5</c:v>
                </c:pt>
                <c:pt idx="3">
                  <c:v>3633.8</c:v>
                </c:pt>
                <c:pt idx="4">
                  <c:v>7301.7</c:v>
                </c:pt>
                <c:pt idx="5">
                  <c:v>10415</c:v>
                </c:pt>
                <c:pt idx="6">
                  <c:v>20212.8</c:v>
                </c:pt>
                <c:pt idx="7">
                  <c:v>35964.6</c:v>
                </c:pt>
                <c:pt idx="8">
                  <c:v>35523.1</c:v>
                </c:pt>
                <c:pt idx="9">
                  <c:v>14267.4</c:v>
                </c:pt>
                <c:pt idx="10">
                  <c:v>23898.2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B0-457B-AE3B-BBF1D278F9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Europa (%)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1800</c:v>
                </c:pt>
                <c:pt idx="1">
                  <c:v>1820</c:v>
                </c:pt>
                <c:pt idx="2">
                  <c:v>1840</c:v>
                </c:pt>
                <c:pt idx="3">
                  <c:v>1860</c:v>
                </c:pt>
                <c:pt idx="4">
                  <c:v>1880</c:v>
                </c:pt>
                <c:pt idx="5">
                  <c:v>1900</c:v>
                </c:pt>
                <c:pt idx="6">
                  <c:v>1913</c:v>
                </c:pt>
                <c:pt idx="7">
                  <c:v>1920</c:v>
                </c:pt>
                <c:pt idx="8">
                  <c:v>1929</c:v>
                </c:pt>
                <c:pt idx="9">
                  <c:v>1932</c:v>
                </c:pt>
                <c:pt idx="10">
                  <c:v>1938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87</c:v>
                </c:pt>
                <c:pt idx="1">
                  <c:v>61.7</c:v>
                </c:pt>
                <c:pt idx="2">
                  <c:v>64.099999999999994</c:v>
                </c:pt>
                <c:pt idx="3">
                  <c:v>64.8</c:v>
                </c:pt>
                <c:pt idx="4">
                  <c:v>61.3</c:v>
                </c:pt>
                <c:pt idx="5">
                  <c:v>59.6</c:v>
                </c:pt>
                <c:pt idx="6">
                  <c:v>56.2</c:v>
                </c:pt>
                <c:pt idx="7">
                  <c:v>41</c:v>
                </c:pt>
                <c:pt idx="8">
                  <c:v>48.4</c:v>
                </c:pt>
                <c:pt idx="9">
                  <c:v>51.5</c:v>
                </c:pt>
                <c:pt idx="10">
                  <c:v>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84-4F55-B95F-8DE103F927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Américas (%)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1800</c:v>
                </c:pt>
                <c:pt idx="1">
                  <c:v>1820</c:v>
                </c:pt>
                <c:pt idx="2">
                  <c:v>1840</c:v>
                </c:pt>
                <c:pt idx="3">
                  <c:v>1860</c:v>
                </c:pt>
                <c:pt idx="4">
                  <c:v>1880</c:v>
                </c:pt>
                <c:pt idx="5">
                  <c:v>1900</c:v>
                </c:pt>
                <c:pt idx="6">
                  <c:v>1913</c:v>
                </c:pt>
                <c:pt idx="7">
                  <c:v>1920</c:v>
                </c:pt>
                <c:pt idx="8">
                  <c:v>1929</c:v>
                </c:pt>
                <c:pt idx="9">
                  <c:v>1932</c:v>
                </c:pt>
                <c:pt idx="10">
                  <c:v>1938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9.3000000000000007</c:v>
                </c:pt>
                <c:pt idx="1">
                  <c:v>30.2</c:v>
                </c:pt>
                <c:pt idx="2">
                  <c:v>22.5</c:v>
                </c:pt>
                <c:pt idx="3">
                  <c:v>18.2</c:v>
                </c:pt>
                <c:pt idx="4">
                  <c:v>21.5</c:v>
                </c:pt>
                <c:pt idx="5">
                  <c:v>23.6</c:v>
                </c:pt>
                <c:pt idx="6">
                  <c:v>23.9</c:v>
                </c:pt>
                <c:pt idx="7">
                  <c:v>39.6</c:v>
                </c:pt>
                <c:pt idx="8">
                  <c:v>28.7</c:v>
                </c:pt>
                <c:pt idx="9">
                  <c:v>25</c:v>
                </c:pt>
                <c:pt idx="10">
                  <c:v>27.2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84-4F55-B95F-8DE103F927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 (%)</c:v>
                </c:pt>
              </c:strCache>
            </c:strRef>
          </c:tx>
          <c:spPr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1800</c:v>
                </c:pt>
                <c:pt idx="1">
                  <c:v>1820</c:v>
                </c:pt>
                <c:pt idx="2">
                  <c:v>1840</c:v>
                </c:pt>
                <c:pt idx="3">
                  <c:v>1860</c:v>
                </c:pt>
                <c:pt idx="4">
                  <c:v>1880</c:v>
                </c:pt>
                <c:pt idx="5">
                  <c:v>1900</c:v>
                </c:pt>
                <c:pt idx="6">
                  <c:v>1913</c:v>
                </c:pt>
                <c:pt idx="7">
                  <c:v>1920</c:v>
                </c:pt>
                <c:pt idx="8">
                  <c:v>1929</c:v>
                </c:pt>
                <c:pt idx="9">
                  <c:v>1932</c:v>
                </c:pt>
                <c:pt idx="10">
                  <c:v>1938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3.7</c:v>
                </c:pt>
                <c:pt idx="1">
                  <c:v>7.9</c:v>
                </c:pt>
                <c:pt idx="2">
                  <c:v>11.1</c:v>
                </c:pt>
                <c:pt idx="3">
                  <c:v>11.7</c:v>
                </c:pt>
                <c:pt idx="4">
                  <c:v>11.2</c:v>
                </c:pt>
                <c:pt idx="5">
                  <c:v>10.5</c:v>
                </c:pt>
                <c:pt idx="6">
                  <c:v>12.5</c:v>
                </c:pt>
                <c:pt idx="7">
                  <c:v>13.9</c:v>
                </c:pt>
                <c:pt idx="8">
                  <c:v>15.7</c:v>
                </c:pt>
                <c:pt idx="9">
                  <c:v>15.9</c:v>
                </c:pt>
                <c:pt idx="10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F84-4F55-B95F-8DE103F927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HHI (regiones, exportaciones)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1800</c:v>
                </c:pt>
                <c:pt idx="1">
                  <c:v>1820</c:v>
                </c:pt>
                <c:pt idx="2">
                  <c:v>1840</c:v>
                </c:pt>
                <c:pt idx="3">
                  <c:v>1860</c:v>
                </c:pt>
                <c:pt idx="4">
                  <c:v>1880</c:v>
                </c:pt>
                <c:pt idx="5">
                  <c:v>1900</c:v>
                </c:pt>
                <c:pt idx="6">
                  <c:v>1913</c:v>
                </c:pt>
                <c:pt idx="7">
                  <c:v>1920</c:v>
                </c:pt>
                <c:pt idx="8">
                  <c:v>1929</c:v>
                </c:pt>
                <c:pt idx="9">
                  <c:v>1932</c:v>
                </c:pt>
                <c:pt idx="10">
                  <c:v>1938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0.76600000000000001</c:v>
                </c:pt>
                <c:pt idx="1">
                  <c:v>0.47799999999999998</c:v>
                </c:pt>
                <c:pt idx="2">
                  <c:v>0.47399999999999998</c:v>
                </c:pt>
                <c:pt idx="3">
                  <c:v>0.46800000000000003</c:v>
                </c:pt>
                <c:pt idx="4">
                  <c:v>0.436</c:v>
                </c:pt>
                <c:pt idx="5">
                  <c:v>0.42299999999999999</c:v>
                </c:pt>
                <c:pt idx="6">
                  <c:v>0.39200000000000002</c:v>
                </c:pt>
                <c:pt idx="7">
                  <c:v>0.34599999999999997</c:v>
                </c:pt>
                <c:pt idx="8">
                  <c:v>0.34399999999999997</c:v>
                </c:pt>
                <c:pt idx="9">
                  <c:v>0.35599999999999998</c:v>
                </c:pt>
                <c:pt idx="10">
                  <c:v>0.32200000000000001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16-4F69-B0FE-65B78681E2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Polities (mundo, muestra completa)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1800</c:v>
                </c:pt>
                <c:pt idx="1">
                  <c:v>1820</c:v>
                </c:pt>
                <c:pt idx="2">
                  <c:v>1840</c:v>
                </c:pt>
                <c:pt idx="3">
                  <c:v>1860</c:v>
                </c:pt>
                <c:pt idx="4">
                  <c:v>1880</c:v>
                </c:pt>
                <c:pt idx="5">
                  <c:v>1900</c:v>
                </c:pt>
                <c:pt idx="6">
                  <c:v>1913</c:v>
                </c:pt>
                <c:pt idx="7">
                  <c:v>1920</c:v>
                </c:pt>
                <c:pt idx="8">
                  <c:v>1929</c:v>
                </c:pt>
                <c:pt idx="9">
                  <c:v>1932</c:v>
                </c:pt>
                <c:pt idx="10">
                  <c:v>1938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</c:v>
                </c:pt>
                <c:pt idx="1">
                  <c:v>59</c:v>
                </c:pt>
                <c:pt idx="2">
                  <c:v>90</c:v>
                </c:pt>
                <c:pt idx="3">
                  <c:v>125</c:v>
                </c:pt>
                <c:pt idx="4">
                  <c:v>126</c:v>
                </c:pt>
                <c:pt idx="5">
                  <c:v>129</c:v>
                </c:pt>
                <c:pt idx="6">
                  <c:v>130</c:v>
                </c:pt>
                <c:pt idx="7">
                  <c:v>135</c:v>
                </c:pt>
                <c:pt idx="8">
                  <c:v>141</c:v>
                </c:pt>
                <c:pt idx="9">
                  <c:v>142</c:v>
                </c:pt>
                <c:pt idx="10">
                  <c:v>140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EA0-4C3B-B500-E6167B14DF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de comercio (1913=100)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1800</c:v>
                </c:pt>
                <c:pt idx="1">
                  <c:v>1820</c:v>
                </c:pt>
                <c:pt idx="2">
                  <c:v>1840</c:v>
                </c:pt>
                <c:pt idx="3">
                  <c:v>1860</c:v>
                </c:pt>
                <c:pt idx="4">
                  <c:v>1880</c:v>
                </c:pt>
                <c:pt idx="5">
                  <c:v>1900</c:v>
                </c:pt>
                <c:pt idx="6">
                  <c:v>1913</c:v>
                </c:pt>
                <c:pt idx="7">
                  <c:v>1920</c:v>
                </c:pt>
                <c:pt idx="8">
                  <c:v>1929</c:v>
                </c:pt>
                <c:pt idx="9">
                  <c:v>1932</c:v>
                </c:pt>
                <c:pt idx="10">
                  <c:v>1938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2.39</c:v>
                </c:pt>
                <c:pt idx="1">
                  <c:v>3.28</c:v>
                </c:pt>
                <c:pt idx="2">
                  <c:v>7</c:v>
                </c:pt>
                <c:pt idx="3">
                  <c:v>16.77</c:v>
                </c:pt>
                <c:pt idx="4">
                  <c:v>35.29</c:v>
                </c:pt>
                <c:pt idx="5">
                  <c:v>61.08</c:v>
                </c:pt>
                <c:pt idx="6">
                  <c:v>100</c:v>
                </c:pt>
                <c:pt idx="7">
                  <c:v>90.61</c:v>
                </c:pt>
                <c:pt idx="8">
                  <c:v>132.83000000000001</c:v>
                </c:pt>
                <c:pt idx="9">
                  <c:v>95.28</c:v>
                </c:pt>
                <c:pt idx="10">
                  <c:v>114.15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8DA-49B0-876D-19EDF08ED0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011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 1.
[Sources]
- Datos (1800–1938): archivo del curso "world_1800_1938_FTWTHD_201710_v01.xlsx" (subido por el docente).
- Referencia de la base (FTWTHD / Federico–Tena): https://www.uc3m.es/ss/Satellite/UC3MInstitucional/es/TextoMixta/1371246237481/Federico-Tena_World_Trade_Historical_Database
- Paper (metodología y serie mundial): https://www.cambridge.org/core/services/aop-cambridge-core/content/view/A3839794F820DBFD5E2E3981BC556682/S0212610918000216a.pdf/world_trade_18001938_a_new_synthesis.pdf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Estructura basada en la consigna de clase (conversación).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Hechos estilizados: síntesis docente para esta clase.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Periodización: esquema docente para la clase (síntesis).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construido con la base FTWTHD (archivo del curso).
[Sources]
- Datos: "world_1800_1938_FTWTHD_201710_v01.xlsx" (subido por el docente).
- Documentación/proyecto (FTWTHD): https://www.uc3m.es/ss/Satellite/UC3MInstitucional/es/TextoMixta/1371246237481/Federico-Tena_World_Trade_Historical_Database
- Paper (serie y metodología): https://www.cambridge.org/core/services/aop-cambridge-core/content/view/A3839794F820DBFD5E2E3981BC556682/S0212610918000216a.pdf/world_trade_18001938_a_new_synthesis.pdf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construido con la base FTWTHD (archivo del curso).
[Sources]
- Datos: "world_1800_1938_FTWTHD_201710_v01.xlsx" (subido por el docente).
- Documentación/proyecto (FTWTHD): https://www.uc3m.es/ss/Satellite/UC3MInstitucional/es/TextoMixta/1371246237481/Federico-Tena_World_Trade_Historical_Database
- Paper (serie y metodología): https://www.cambridge.org/core/services/aop-cambridge-core/content/view/A3839794F820DBFD5E2E3981BC556682/S0212610918000216a.pdf/world_trade_18001938_a_new_synthesis.pdf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construido con agregados regionales de la base FTWTHD (archivo del curso).
[Sources]
- Datos: "world_1800_1938_FTWTHD_201710_v01.xlsx" (subido por el docente).
- Paper (desagregación por continente y discusión): https://www.cambridge.org/core/services/aop-cambridge-core/content/view/A3839794F820DBFD5E2E3981BC556682/S0212610918000216a.pdf/world_trade_18001938_a_new_synthesis.pdf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HHI = Σ s_r^2, donde s_r es la participación regional en exportaciones mundiales.
[Sources]
- Datos: "world_1800_1938_FTWTHD_201710_v01.xlsx" (subido por el docente).
- Paper (discusión de comercio por continente): https://www.cambridge.org/core/services/aop-cambridge-core/content/view/A3839794F820DBFD5E2E3981BC556682/S0212610918000216a.pdf/world_trade_18001938_a_new_synthesis.pdf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Datos de cobertura: hoja "WORLD TRADE Number of polities" del archivo "world_1800_1938_FTWTHD_201710_v01.xlsx" (subido por el docente).
- Paper (cobertura y muestras): https://www.cambridge.org/core/services/aop-cambridge-core/content/view/A3839794F820DBFD5E2E3981BC556682/S0212610918000216a.pdf/world_trade_18001938_a_new_synthesis.pdf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Fórmulas: definiciones estándar (índice, participación, HHI).
- Datos base: "world_1800_1938_FTWTHD_201710_v01.xlsx" (subido por el docente).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Mapa (Wikimedia Commons): https://commons.wikimedia.org/wiki/File:16th_century_Portuguese_Spanish_trade_routes.png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Mapa (Wikimedia Commons): https://commons.wikimedia.org/wiki/File:Manila-Accapulco_galleon_trade_route,_showing_onward_route_to_Spain.png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Mapa (Wikimedia Commons): https://commons.wikimedia.org/wiki/File:Map_WestIndies_SpanishTreasureRoutes_1726.svg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Interpretación histórica: síntesis docente para la clase (sin un único texto base).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Imagen (Internet Archive / David Rumsey Map Collection): https://archive.org/details/dr_navy-league-map-of-the-british-empire-historical-growth-of-british-empire-11564002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Mapa (Wikimedia Commons): https://commons.wikimedia.org/wiki/File:The_Steamship_Routes_of_The_World_Showing_Track_for_Full_Power_Steam_Vessels,_with_shortest_Navigable_Distances_in_Nautical_Miles,_From_Anchorage_to_Anchorage.jpg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Mapa (Wikimedia Commons): https://commons.wikimedia.org/wiki/File:1901_Eastern_Telegraph_cables.png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Datos (índice): "world_1800_1938_FTWTHD_201710_v01.xlsx" (subido por el docente).
- Paper (efectos de guerra y Depresión en el comercio): https://www.cambridge.org/core/services/aop-cambridge-core/content/view/A3839794F820DBFD5E2E3981BC556682/S0212610918000216a.pdf/world_trade_18001938_a_new_synthesis.pdf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Bretton Woods y creación del Banco Mundial: https://www.worldbank.org/en/archive/history/exhibits/Bretton-Woods-and-the-Birth-of-the-World-Bank
- Bretton Woods system (Federal Reserve History, PDF): https://www.federalreservehistory.org/-/media/Project/FedHistory/FedHistory/Documents/essaysPDFs/Creation-of-the-Bretton-Woods-System-_-Federal-Reserve-History.pdf
- GATT 1947 (UN Audiovisual Library of International Law): https://legal.un.org/avl/ha/gatt/gatt.html
- OMC como sucesora de GATT (Britannica): https://www.britannica.com/topic/World-Trade-Organization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Checklist integrador: síntesis docente.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Resumen y próximos pasos: síntesis docente.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Economía Internacional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 — Hechos estilizados, medición y grandes etapas históricas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108813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de lectura: comercio global + hegemonías + datos (1800–1938)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1/21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de hoy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un mapa mental común: “etapas + hegemonías + medición”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24492"/>
            <a:ext cx="4325325" cy="4613467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6263640" y="777240"/>
            <a:ext cx="5285232" cy="57607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60120" y="2339162"/>
            <a:ext cx="3760736" cy="40616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¿Qué medimos cuando decimos “comercio internacional”?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Indicadores simples con datos históricos (1800–1938).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Eventos que rompen tendencias (guerras, crisis, políticas).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005840"/>
            <a:ext cx="4736592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Grandes etapas históricas (siglo XVI → siglo XX).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Hegemonías: Iberia → Reino Unido → Estados Unidos.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6) Cómo conectamos historia y números (hipótesis testables).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Hechos estilizados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Hechos estilizados (lo que esperamos ver en los datos)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972800" cy="5166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1024128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comercio mundial crece en el largo plazo, pero con "ondas" y caídas abruptas.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etapas históricas suelen combinar: tecnología + reglas + poder (hegemonía).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composición geográfica cambia: Europa domina el siglo XIX; luego aparecen nuevas regiones.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integración global no es lineal: 1914–45 rompe la primera globalización.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indicadores dependen de la cobertura estadística (qué países entran en el registro).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3/21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Etapas históricas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periodización útil (comercio + poder + reglas)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la única, pero ayuda a ordenar la discusión de hoy.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1060704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237744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32688" y="1984248"/>
            <a:ext cx="2157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1500–1650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Economía-mundo ibérica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874520"/>
            <a:ext cx="2377440" cy="7772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3447288" y="1984248"/>
            <a:ext cx="21579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1650–1815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Transición (Holanda/UK)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874520"/>
            <a:ext cx="2651760" cy="7772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5961888" y="1984248"/>
            <a:ext cx="24323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1815–1913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Hegemonía británica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41080" y="1874520"/>
            <a:ext cx="2697480" cy="777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8750808" y="1984248"/>
            <a:ext cx="2478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1914–1945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Guerras + desintegración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063240"/>
            <a:ext cx="1060704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1005840" y="327355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1945–hoy: Orden de posguerra (EUA) → globalización tardía → tensiones recientes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546593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Clase 1 lo dejamos como “marco”; la Clase 2 entra en teorías y post-1945.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10972800" cy="2468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914400" y="4251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integradora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553712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hegemonía no es solo poder militar: también organiza pagos, finanzas, logística, reglas y (a veces) “bien público” de seguridad.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1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4/21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 I — Índice de comercio mundial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 (1913 = 100), 1800–1938. Puntos seleccionados para lectura rápida.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508760"/>
          <a:ext cx="10972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620000" y="4224528"/>
            <a:ext cx="3931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7726680" y="4197096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Tendencia creciente (siglo XIX)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Caída 1914–18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Pico 1929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Colapso 1930–32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Recuperación parcial hacia 1938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8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5/21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 II — Exportaciones e importaciones mundiales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Millones de US$ corrientes (fronteras corrientes), 1800–1938. Puntos seleccionados.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508760"/>
          <a:ext cx="10972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680960" y="5212080"/>
            <a:ext cx="3931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7863840" y="53218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valores son nominales (precios corrientes).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comparar períodos largos conviene usar índices o deflactar.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8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6/21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 III — Participación regional en exportaciones mundiales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Porcentaje del total mundial de exportaciones (Europa, Américas, Asia), 1800–1938. Puntos seleccionados.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508760"/>
          <a:ext cx="10972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680960" y="5212080"/>
            <a:ext cx="3931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7863840" y="53218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Puente a hegemonías: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Europa (y en especial UK) organiza buena parte del comercio del siglo XIX.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Luego crecen otras regiones.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8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7/21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 IV — Concentración regional (HHI) en exportaciones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HHI calculado sobre 5 regiones (África, Américas, Asia, Europa, Oceanía). 1 = máxima concentración.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508760"/>
          <a:ext cx="10972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680960" y="5212080"/>
            <a:ext cx="39319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7863840" y="5321808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Interpretación: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HHI alto = exportaciones concentradas en una región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HHI bajo = distribución más pareja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8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8/21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 V — Cobertura estadística (número de polities)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registra cuántas unidades políticas aportan información. Esto afecta la interpretación de niveles y cambios.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508760"/>
          <a:ext cx="10972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532120"/>
            <a:ext cx="10972800" cy="960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914400" y="56509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práctica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58704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la cobertura cambia rápido, compará con índices (p.ej., 1913=100) y mirá rupturas históricas (guerras, crisis, políticas).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9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9/21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aplicamos los indicadores a esta base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Definiciones mínimas (operativas) para construir evidencia desde el Excel.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611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Índice (nivel relativo)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039112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I_t = 100 × (Trade_t / Trade_1913)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la base ya viene como "Final index (1913=100)".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600200"/>
            <a:ext cx="3611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434840" y="17373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Participación regional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2039112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s_{r,t} = X_{r,t} / X_{World,t}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(análogamente para importaciones).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1600200"/>
            <a:ext cx="3611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8046720" y="17373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Concentración (HHI)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0" y="2039112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HHI_t = Σ_r s_{r,t}^2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Rango: 1/N (diversificado) → 1 (concentrado).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10972800" cy="3200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914400" y="345643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agregamos para hablar de hegemonías?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794760"/>
            <a:ext cx="10424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 estos agregados regionales vemos "centros" (Europa, luego otros), pero no el país hegemón directamente.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Para identificar hegemonías por país (UK vs EUA) necesitamos series por país: participación en comercio, finanzas, flota mercante, etc.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 esta clase usamos historia + mapas para ese puente; en clases siguientes podemos sumar datos país-nivel.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8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10/21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1 — Economía-mundo ibérica (c.1500–1650)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466344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Mapa: rutas oceánicas ibéricas (siglo XVI)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clave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114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Iberia conecta Atlántico y (luego) Pacífico: metales, especias y nodos portuarios.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Instituciones: monopolios, Casa de Contratación, flotas y convoyes.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Estrategia: controlar puntos de estrangulamiento y rutas de alto valor.</a:t>
            </a:r>
            <a:endParaRPr lang="en-US" sz="1400" dirty="0"/>
          </a:p>
        </p:txBody>
      </p:sp>
      <p:pic>
        <p:nvPicPr>
          <p:cNvPr id="9" name="Image 0" descr="/mnt/data/assets/iberian_routes_1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362200"/>
            <a:ext cx="6400800" cy="2682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0680" y="777240"/>
            <a:ext cx="6400800" cy="5852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9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11/21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1 — Circuito transpacífico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466344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Mapa: Galeón de Manila (Manila–Acapulco–Sevilla)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clave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114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 Asia a la economía atlántica vía Nueva España.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 americana ↔ bienes asiáticos (sedas, porcelana, especias).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temprano de cadena global (con fuerte componente estatal).</a:t>
            </a:r>
            <a:endParaRPr lang="en-US" sz="1400" dirty="0"/>
          </a:p>
        </p:txBody>
      </p:sp>
      <p:pic>
        <p:nvPicPr>
          <p:cNvPr id="9" name="Image 0" descr="/mnt/data/assets/manila_galleon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615684"/>
            <a:ext cx="6400800" cy="21752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0680" y="777240"/>
            <a:ext cx="6400800" cy="5852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9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12/21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1 — Flotas y seguridad marítima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466344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Mapa: rutas del tesoro (Caribe, c.1726)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clave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114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logística del tesoro combina rutas marítimas + corredor terrestre (Camino Real).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seguridad (piratería, rivalidad imperial) condiciona la geografía del comercio.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largo plazo, los costos de seguridad son parte del “precio” del comercio.</a:t>
            </a:r>
            <a:endParaRPr lang="en-US" sz="1400" dirty="0"/>
          </a:p>
        </p:txBody>
      </p:sp>
      <p:pic>
        <p:nvPicPr>
          <p:cNvPr id="9" name="Image 0" descr="/mnt/data/assets/spanish_treasure_routes_17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918097"/>
            <a:ext cx="6400800" cy="357044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0680" y="777240"/>
            <a:ext cx="6400800" cy="5852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9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13/21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Transiciones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Iberia a la era británica: ¿qué cambia?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lectura (simplificada) para conectar historia con indicadores.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10972800" cy="5029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1042416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amplía el comercio “intra-europeo” y se profundiza la intermediación financiera.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Aparecen compañías, seguros y bolsas como infraestructura para comerciar (menos “monopolio puro”).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hegemonía británica del XIX combina: industria + marina + finanzas + reglas (libre comercio).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Empíricamente esperamos: aceleración del crecimiento del comercio (siglo XIX) y centralidad europea.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14/21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2 — Hegemonía británica y primera globalización (1815–1913)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466344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Mapa: rutas y red imperial (Navy League, 1922)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clave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114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 como organizador: puertos, rutas, cables, bases navales y finanzas.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red comercial se apoya en el imperio, pero también en países no-imperiales.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con los datos: auge del comercio mundial en el siglo XIX (índice).</a:t>
            </a:r>
            <a:endParaRPr lang="en-US" sz="1400" dirty="0"/>
          </a:p>
        </p:txBody>
      </p:sp>
      <p:pic>
        <p:nvPicPr>
          <p:cNvPr id="9" name="Image 0" descr="/mnt/data/assets/navy_league_map_19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184255"/>
            <a:ext cx="6400800" cy="503813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0680" y="777240"/>
            <a:ext cx="6400800" cy="5852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9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15/21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y costos: vapor + rutas regulares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466344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Mapa: rutas de vapor (Rand McNally, 1917)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clave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114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 más densas y regulares → mayor previsibilidad y menor costo por unidad.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Complemento de la hegemonía: logística y tiempos de viaje.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Hipótesis: tecnología + reglas → salto en el crecimiento del comercio (siglo XIX).</a:t>
            </a:r>
            <a:endParaRPr lang="en-US" sz="1400" dirty="0"/>
          </a:p>
        </p:txBody>
      </p:sp>
      <p:pic>
        <p:nvPicPr>
          <p:cNvPr id="9" name="Image 0" descr="/mnt/data/assets/steamship_routes_1917_25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370528"/>
            <a:ext cx="6400800" cy="466558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0680" y="777240"/>
            <a:ext cx="6400800" cy="5852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9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16/21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Infraestructura de información: cables submarinos (c.1901)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466344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Mapa: red global de cables (Eastern Telegraph Co., 1901)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clave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114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más rápida → coordinación de precios, seguros y pagos.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hubs (Europa/UK) conectan comercio, finanzas y poder.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términos de indicadores: integración no es solo volumen, también coordinación.</a:t>
            </a:r>
            <a:endParaRPr lang="en-US" sz="1400" dirty="0"/>
          </a:p>
        </p:txBody>
      </p:sp>
      <p:pic>
        <p:nvPicPr>
          <p:cNvPr id="9" name="Image 0" descr="/mnt/data/assets/eastern_telegraph_cables_19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110996"/>
            <a:ext cx="6400800" cy="51846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0680" y="777240"/>
            <a:ext cx="6400800" cy="5852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9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17/21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Rupturas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1914–1945: guerra, crisis y desintegración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Usamos el índice 1913=100 para ver rupturas sin depender de precios nominales.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463040"/>
          <a:ext cx="10972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1005840" y="5715000"/>
            <a:ext cx="3383280" cy="8229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1143000" y="582472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WWI + disrupciones logísticas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(1914–18)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26280" y="5715000"/>
            <a:ext cx="3383280" cy="8229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4663440" y="582472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Pico 1929 → colapso 1930–32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(Gran Depresión)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46720" y="5715000"/>
            <a:ext cx="356616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8183880" y="582472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parcial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tensiones pre-1939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2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18/21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Posguerra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1945–hoy (marco): hegemonía de EUA y reglas multilaterales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esta conversación no abrimos la Clase 2; dejamos el puente conceptual.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10972800" cy="5029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EUA sustituye a UK como centro: dólar, finanzas, poder militar y arquitectura institucional.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Instituciones: FMI, Banco Mundial, GATT/OMC; y seguridad en rutas clave.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Hipótesis empírica: apertura comercial sube fuerte 1950–2008 y luego se desacelera.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medir post-1945: comercio/GDP, participación en cadenas globales, tarifas y NTBs.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19/21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conectamos historia y medición (para discutir en clase)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de "checklist" para cada etapa.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1005840" y="1901952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1005840" y="19019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828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y costos: navegación, energía, telecomunicaciones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60020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6629400" y="1901952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6629400" y="19019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60920" y="1828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Reglas: monopolios, tratados, aranceles, instituciones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315468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1005840" y="3456432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1005840" y="3456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33832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Poder: hegemonía, seguridad de rutas, control de nodos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315468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6629400" y="3456432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6629400" y="34564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60920" y="33832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Datos: ¿qué indicador usar? (índice, shares, HHI, cobertura)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800600"/>
            <a:ext cx="1097280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914400" y="4956048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guía para cerrar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52578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combinación de (1)-(2)-(3) explica mejor el quiebre 1914–45 en el índice? ¿Qué datos adicionales pedirías para probarlo?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5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20/21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326880" y="1371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Cierre: qué nos llevamos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972800" cy="40690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10424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Tenemos un set mínimo de indicadores para mirar el largo plazo (índice, shares, HHI, cobertura).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etapas históricas ordenan: rutas, instituciones y hegemonías (Iberia → UK → EUA).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primera globalización termina con un quiebre visible en los datos (1914–45).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972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914400" y="5760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la próxima (teaser)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9893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Teorías clásicas (Smith, Ricardo) y cómo dialogan con esta historia y estos datos.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11185855" y="66476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21/21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  <a:latin typeface="Aptos"/>
              </a:defRPr>
            </a:pPr>
            <a:r>
              <a:t>Cadenas Globales de Valor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ptos"/>
              </a:defRPr>
            </a:pPr>
            <a:r>
              <a:t>Comercio bruto vs comercio en valor agregado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El comercio tradicional mide valor bruto: si un auto vale US$ 30.000, se registran US$ 30.000.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Pero ese auto tiene componentes de 10 paises: el mismo insumo cruza fronteras varias veces.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El comercio en valor agregado (TiVA) mide cuanto valor aporta cada pais realmente.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Ejemplo iPhone: China exporta US$ 500, pero solo captura US$ 10 de ensamble.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Implicancia: los deficits/superavits bilaterales pueden ser enganosos.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Para politica comercial: importa donde se captura valor, no solo cuanto se exporta.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Aptos"/>
              </a:defRPr>
            </a:pPr>
            <a:r>
              <a:t>22/26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  <a:latin typeface="Aptos"/>
              </a:defRPr>
            </a:pPr>
            <a:r>
              <a:t>Cadenas Globales de Valor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ptos"/>
              </a:defRPr>
            </a:pPr>
            <a:r>
              <a:t>La curva de la sonrisa: donde se captura valor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Concepto de Stan Shih (Acer, 1992): el valor capturado varia segun la etapa.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Etapas de ALTO valor agregado: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I+D, diseno, marca (upstream)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Marketing, servicios, posventa (downstream)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Etapas de BAJO valor agregado: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Manufactura, ensamble (centro de la cadena)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Muchos paises en desarrollo estan atrapados en el centro.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Politica de upgrading: moverse hacia los extremos de mayor valor.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Aptos"/>
              </a:defRPr>
            </a:pPr>
            <a:r>
              <a:t>23/26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  <a:latin typeface="Aptos"/>
              </a:defRPr>
            </a:pPr>
            <a:r>
              <a:t>Cadenas Globales de Valor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ptos"/>
              </a:defRPr>
            </a:pPr>
            <a:r>
              <a:t>Donde medir CGV y valor agregado (fuentes)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OECD TiVA (Trade in Value Added):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Descompone exportaciones por origen del valor agregado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Permite ver participacion real de cada pais en cadenas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UNCTAD-Eora GVC Database: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Matrices insumo-producto globales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Indicadores de participacion forward/backward en CGV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World Bank WITS + IDE-JETRO: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Herramientas complementarias para analisis de cadenas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En la practica: exportar mucho no es igual a capturar mucho.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Aptos"/>
              </a:defRPr>
            </a:pPr>
            <a:r>
              <a:t>24/26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  <a:latin typeface="Aptos"/>
              </a:defRPr>
            </a:pPr>
            <a:r>
              <a:t>Actividad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ptos"/>
              </a:defRPr>
            </a:pPr>
            <a:r>
              <a:t>Actividad: Mapear una CGV en 6 casilleros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En grupos de 3-4, elegir UN producto: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Smartphone  |  Automovil  |  Soja-aceite-biodiesel  |  Servicio exportable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Completar los 6 casilleros de la cadena: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1) I+D/Diseno   2) Insumos   3) Produccion/Ensamble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4) Logistica     5) Marketing  6) Posventa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Preguntas guia: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Que partes quedan en el centro y cuales se relocalizan?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Que necesita un pais para moverse a casilleros de mayor valor?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Que significa exportar mucho pero capturar poco?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Cierre: 2-3 grupos comparten (5 min).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Aptos"/>
              </a:defRPr>
            </a:pPr>
            <a:r>
              <a:t>25/26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Clase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5E7EB"/>
                </a:solidFill>
                <a:latin typeface="Aptos"/>
              </a:defRPr>
            </a:pPr>
            <a:r>
              <a:t>Cierre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Aptos"/>
              </a:defRPr>
            </a:pPr>
            <a:r>
              <a:t>Cierre: que nos llevamos + lecturas para la proxima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Hoy cubrimos: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Set minimo de indicadores (indice, shares, HHI, cobertura)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Etapas historicas y hegemonias (Iberia - UK - EUA)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La primera globalizacion y su quiebre (1914-45)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Por que las CGV cambian como medimos el comercio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Lectura obligatoria para Clase 2: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Krugman, Obstfeld y Melitz, caps. 1-2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Lectura corta (elegir 1 grafico/dato para comentar):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   - UNCTAD Global Trade Update o WTO World Trade Report 2024</a:t>
            </a: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11827"/>
                </a:solidFill>
                <a:latin typeface="Aptos"/>
              </a:defRPr>
            </a:pPr>
            <a:r>
              <a:t>Proximo tema: Teorias clasicas (Smith, Ricardo).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B5563"/>
                </a:solidFill>
                <a:latin typeface="Aptos"/>
              </a:defRPr>
            </a:pPr>
            <a:r>
              <a:t>26/26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2884</Words>
  <Application>Microsoft Office PowerPoint</Application>
  <PresentationFormat>Panorámica</PresentationFormat>
  <Paragraphs>248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Aptos</vt:lpstr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GIDs</dc:creator>
  <cp:lastModifiedBy>Gerardo Breard</cp:lastModifiedBy>
  <cp:revision>1</cp:revision>
  <dcterms:created xsi:type="dcterms:W3CDTF">2025-12-29T22:53:28Z</dcterms:created>
  <dcterms:modified xsi:type="dcterms:W3CDTF">2025-12-30T15:06:18Z</dcterms:modified>
</cp:coreProperties>
</file>