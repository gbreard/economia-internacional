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11827"/>
                </a:solidFill>
              </a:defRPr>
            </a:pPr>
            <a:r>
              <a:t>Economia Internacional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B5563"/>
                </a:solidFill>
              </a:defRPr>
            </a:pPr>
            <a:r>
              <a:t>Clase 1 - El comercio mundial: auge, colapso y preguntas abiertas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74720"/>
            <a:ext cx="1828800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B5563"/>
                </a:solidFill>
              </a:defRPr>
            </a:pPr>
            <a:r>
              <a:t>Pregunta guia: Por que el comercio crecio 40x en un siglo y luego se derrumbo?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E7EB"/>
                </a:solidFill>
              </a:defRPr>
            </a:pPr>
            <a:r>
              <a:t>Apertura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40312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2/20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Un siglo de crecimiento, treinta anos de destruccion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6858000" cy="3657600"/>
          </a:xfrm>
          <a:prstGeom prst="rect">
            <a:avLst/>
          </a:prstGeom>
          <a:solidFill>
            <a:srgbClr val="E5E7E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B5563"/>
                </a:solidFill>
              </a:defRPr>
            </a:pPr>
            <a:r>
              <a:t>[GRAFICO: Indice de comercio mundial 1800-1938 (1913=100)]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73736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827"/>
                </a:solidFill>
              </a:defRPr>
            </a:pPr>
            <a:r>
              <a:t>Lectura: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  1800: indice = 2.4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  1870: indice = 25 (x10)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  1913: indice = 100 (x40)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  1918: indice = 75 (-25%)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  1929: indice = 133 (pico)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  1932: indice = 95 (-29%)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B5563"/>
                </a:solidFill>
              </a:defRPr>
            </a:pPr>
            <a:r>
              <a:t>Este grafico es el mapa del curso - vamos a explicar cada movimiento.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E7EB"/>
                </a:solidFill>
              </a:defRPr>
            </a:pPr>
            <a:r>
              <a:t>Marco analitico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40312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3/20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Tres fuerzas que explican el comercio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73736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Fuerza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Pregunta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Ejemplo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Tecnologia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Cuanto cuesta mover bienes?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Vapor, ferrocarril, telegrafo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Reglas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Quien puede comerciar y como?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Aranceles, tratados, monopolios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Poder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Quien garantiza rutas y pagos?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Hegemonia, marina, moneda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B5563"/>
                </a:solidFill>
              </a:defRPr>
            </a:pPr>
            <a:r>
              <a:t>Las tres fuerzas operan juntas. Cuando una falla, el sistema se quiebra.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E7EB"/>
                </a:solidFill>
              </a:defRPr>
            </a:pPr>
            <a:r>
              <a:t>Medicion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40312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4/20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Medicion I - Indice de comercio mundial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6858000" cy="3657600"/>
          </a:xfrm>
          <a:prstGeom prst="rect">
            <a:avLst/>
          </a:prstGeom>
          <a:solidFill>
            <a:srgbClr val="E5E7E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B5563"/>
                </a:solidFill>
              </a:defRPr>
            </a:pPr>
            <a:r>
              <a:t>[GRAFICO: Indice 1913=100, 1800-1938]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73736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827"/>
                </a:solidFill>
              </a:defRPr>
            </a:pPr>
            <a:r>
              <a:t>Lectura: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  Tendencia creciente (s.XIX)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  Caida 1914-18 (WWI)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  Pico 1929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  Colapso 1930-32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  Recuperacion parcial 1938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B5563"/>
                </a:solidFill>
              </a:defRPr>
            </a:pPr>
            <a:r>
              <a:t>Fuente: Federico-Tena World Trade Historical Database (FTWTHD)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E7EB"/>
                </a:solidFill>
              </a:defRPr>
            </a:pPr>
            <a:r>
              <a:t>Medicion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40312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5/20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Medicion II - Exportaciones e importaciones mundiales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6858000" cy="3657600"/>
          </a:xfrm>
          <a:prstGeom prst="rect">
            <a:avLst/>
          </a:prstGeom>
          <a:solidFill>
            <a:srgbClr val="E5E7E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B5563"/>
                </a:solidFill>
              </a:defRPr>
            </a:pPr>
            <a:r>
              <a:t>[GRAFICO: Millones de US$ corrientes, 1800-1938]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73736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827"/>
                </a:solidFill>
              </a:defRPr>
            </a:pPr>
            <a:r>
              <a:t>Lectura: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  Valores nominales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  Crecimiento acelerado post-1870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  Caidas en guerras/crisis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B5563"/>
                </a:solidFill>
              </a:defRPr>
            </a:pPr>
            <a:r>
              <a:t>Nota: Para comparar periodos largos, preferir indices (corrigen inflacion).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E7EB"/>
                </a:solidFill>
              </a:defRPr>
            </a:pPr>
            <a:r>
              <a:t>Medicion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40312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6/20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Medicion III - Participacion regional en exportaciones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6858000" cy="3657600"/>
          </a:xfrm>
          <a:prstGeom prst="rect">
            <a:avLst/>
          </a:prstGeom>
          <a:solidFill>
            <a:srgbClr val="E5E7E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B5563"/>
                </a:solidFill>
              </a:defRPr>
            </a:pPr>
            <a:r>
              <a:t>[GRAFICO: % del total mundial (Europa, Americas, Asia), 1800-1938]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73736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827"/>
                </a:solidFill>
              </a:defRPr>
            </a:pPr>
            <a:r>
              <a:t>Lectura: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  Europa domina s.XIX (~65%)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  Americas: proveedor primario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  Asia: menor pero creciente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B5563"/>
                </a:solidFill>
              </a:defRPr>
            </a:pPr>
            <a:r>
              <a:t>Conexion: Europa (y UK) organiza el comercio del siglo XIX.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E7EB"/>
                </a:solidFill>
              </a:defRPr>
            </a:pPr>
            <a:r>
              <a:t>Medicion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40312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7/20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Medicion IV - Concentracion regional (HHI)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6858000" cy="3657600"/>
          </a:xfrm>
          <a:prstGeom prst="rect">
            <a:avLst/>
          </a:prstGeom>
          <a:solidFill>
            <a:srgbClr val="E5E7E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B5563"/>
                </a:solidFill>
              </a:defRPr>
            </a:pPr>
            <a:r>
              <a:t>[GRAFICO: HHI sobre 5 regiones, 1800-1938]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73736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827"/>
                </a:solidFill>
              </a:defRPr>
            </a:pPr>
            <a:r>
              <a:t>Lectura: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  HHI alto = concentrado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  HHI bajo = mas parejo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  Cae en s.XIX (integracion)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</a:defRPr>
            </a:pPr>
            <a:r>
              <a:t>  Sube post-1914 (fragmentacion)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B5563"/>
                </a:solidFill>
              </a:defRPr>
            </a:pPr>
            <a:r>
              <a:t>HHI = suma de participaciones al cuadrado. Rango: 0.2 a 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E7EB"/>
                </a:solidFill>
              </a:defRPr>
            </a:pPr>
            <a:r>
              <a:t>Medicion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40312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8/20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Cobertura estadistica y definiciones operativas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111827"/>
                </a:solidFill>
              </a:defRPr>
            </a:pPr>
            <a:r>
              <a:t>Cobertura: cuantas unidades reportan?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1800: ~30 polities con datos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1913: ~100 polities con datos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Advertencia: cambios en cobertura afectan niveles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200"/>
              </a:spcBef>
              <a:defRPr sz="1800" b="1">
                <a:solidFill>
                  <a:srgbClr val="111827"/>
                </a:solidFill>
              </a:defRPr>
            </a:pPr>
            <a:r>
              <a:t>Definiciones (para usar con los datos)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Indice: It = 100 x (Comerciot / Comercio1913)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Participacion regional: sr,t = Xr,t / Xmundo,t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Concentracion (HHI): HHIt = Suma (sr,t)^2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B5563"/>
                </a:solidFill>
              </a:defRPr>
            </a:pPr>
            <a:r>
              <a:t>Regla practica: cuando la cobertura cambia rapido, usar indices y mirar rupturas.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E7EB"/>
                </a:solidFill>
              </a:defRPr>
            </a:pPr>
            <a:r>
              <a:t>Historia: Auge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40312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9/20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Antes del despegue: el mundo pre-industrial (1500-1800)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111827"/>
                </a:solidFill>
              </a:defRPr>
            </a:pPr>
            <a:r>
              <a:t>Comercio existia, pero era diferente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Volumen pequeno: metales preciosos, especias, esclavos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Rutas controladas por monopolios estatales</a:t>
            </a:r>
          </a:p>
          <a:p>
            <a:pPr>
              <a:spcBef>
                <a:spcPts val="300"/>
              </a:spcBef>
              <a:defRPr sz="1400">
                <a:solidFill>
                  <a:srgbClr val="4B5563"/>
                </a:solidFill>
              </a:defRPr>
            </a:pPr>
            <a:r>
              <a:t>      Casa de Contratacion (Espana)</a:t>
            </a:r>
          </a:p>
          <a:p>
            <a:pPr>
              <a:spcBef>
                <a:spcPts val="300"/>
              </a:spcBef>
              <a:defRPr sz="1400">
                <a:solidFill>
                  <a:srgbClr val="4B5563"/>
                </a:solidFill>
              </a:defRPr>
            </a:pPr>
            <a:r>
              <a:t>      Companias de Indias (Holanda, UK)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Sin industrializacion = sin produccion en masa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200"/>
              </a:spcBef>
              <a:defRPr sz="1800" b="1">
                <a:solidFill>
                  <a:srgbClr val="111827"/>
                </a:solidFill>
              </a:defRPr>
            </a:pPr>
            <a:r>
              <a:t>En 1800 el indice esta en 2.4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Casi nada comparado con 1913 (=100)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El despegue requiere otra tecnologia y otras reglas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B5563"/>
                </a:solidFill>
              </a:defRPr>
            </a:pPr>
            <a:r>
              <a:t>No tenemos datos confiables pre-1800. Desde aqui medimos.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E7EB"/>
                </a:solidFill>
              </a:defRPr>
            </a:pPr>
            <a:r>
              <a:t>Historia: Auge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40312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10/20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1815-1870: El despegue - que cambio?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111827"/>
                </a:solidFill>
              </a:defRPr>
            </a:pPr>
            <a:r>
              <a:t>Tecnologia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Vapor (1820s): viajes mas rapidos y predecibles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Ferrocarril: conecta puertos con interior productivo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Telegrafo (1850s): informacion instantanea de precios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200"/>
              </a:spcBef>
              <a:defRPr sz="1800" b="1">
                <a:solidFill>
                  <a:srgbClr val="111827"/>
                </a:solidFill>
              </a:defRPr>
            </a:pPr>
            <a:r>
              <a:t>Reglas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UK elimina Corn Laws (1846) = apertura unilateral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Tratados bilaterales con clausula de nacion mas favorecida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200"/>
              </a:spcBef>
              <a:defRPr sz="1800" b="1">
                <a:solidFill>
                  <a:srgbClr val="111827"/>
                </a:solidFill>
              </a:defRPr>
            </a:pPr>
            <a:r>
              <a:t>Poder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UK: marina dominante, libra esterlina, City de Londres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B5563"/>
                </a:solidFill>
              </a:defRPr>
            </a:pPr>
            <a:r>
              <a:t>Evidencia: el indice pasa de 2.4 (1800) a 25 (1870) = se multiplica por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E7EB"/>
                </a:solidFill>
              </a:defRPr>
            </a:pPr>
            <a:r>
              <a:t>Historia: Auge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40312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11/20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1870-1913: La primera globalizacion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6400800" cy="3840480"/>
          </a:xfrm>
          <a:prstGeom prst="rect">
            <a:avLst/>
          </a:prstGeom>
          <a:solidFill>
            <a:srgbClr val="E5E7E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64592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827"/>
                </a:solidFill>
              </a:defRPr>
            </a:pPr>
            <a:r>
              <a:t>Ideas clave:</a:t>
            </a:r>
          </a:p>
          <a:p>
            <a:pPr>
              <a:spcBef>
                <a:spcPts val="600"/>
              </a:spcBef>
              <a:defRPr sz="1300">
                <a:solidFill>
                  <a:srgbClr val="111827"/>
                </a:solidFill>
              </a:defRPr>
            </a:pPr>
            <a:r>
              <a:t>  Rutas maritimas controladas por Royal Navy</a:t>
            </a:r>
          </a:p>
          <a:p>
            <a:pPr>
              <a:spcBef>
                <a:spcPts val="600"/>
              </a:spcBef>
              <a:defRPr sz="1300">
                <a:solidFill>
                  <a:srgbClr val="111827"/>
                </a:solidFill>
              </a:defRPr>
            </a:pPr>
            <a:r>
              <a:t>  Cables submarinos = informacion instantanea</a:t>
            </a:r>
          </a:p>
          <a:p>
            <a:pPr>
              <a:spcBef>
                <a:spcPts val="600"/>
              </a:spcBef>
              <a:defRPr sz="1300">
                <a:solidFill>
                  <a:srgbClr val="111827"/>
                </a:solidFill>
              </a:defRPr>
            </a:pPr>
            <a:r>
              <a:t>  Bases navales en puntos estrategicos</a:t>
            </a:r>
          </a:p>
          <a:p>
            <a:pPr>
              <a:spcBef>
                <a:spcPts val="600"/>
              </a:spcBef>
              <a:defRPr sz="1300">
                <a:solidFill>
                  <a:srgbClr val="111827"/>
                </a:solidFill>
              </a:defRPr>
            </a:pPr>
            <a:r>
              <a:t>  Colonias como proveedores y mercados</a:t>
            </a:r>
          </a:p>
          <a:p>
            <a:pPr>
              <a:spcBef>
                <a:spcPts val="600"/>
              </a:spcBef>
              <a:defRPr sz="1300">
                <a:solidFill>
                  <a:srgbClr val="111827"/>
                </a:solidFill>
              </a:defRPr>
            </a:pPr>
            <a:r>
              <a:t>  El indice se cuadruplica: 25 -&gt; 100</a:t>
            </a: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400800" cy="50381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E7EB"/>
                </a:solidFill>
              </a:defRPr>
            </a:pPr>
            <a:r>
              <a:t>Historia: Auge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40312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12/20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Que significa 'hegemonia britanica'?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73736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Rol de UK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Efecto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Productiva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Taller del mundo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Manufactura exportable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Financiera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Libra + 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Credito y seguros globales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Logistica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Marina mercante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Rutas predecibles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Reglas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Libre comercio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Acceso a mercados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B5563"/>
                </a:solidFill>
              </a:defRPr>
            </a:pPr>
            <a:r>
              <a:t>Hegemonia = proveer bienes publicos internacionales que benefician al hegemon y a otros.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E7EB"/>
                </a:solidFill>
              </a:defRPr>
            </a:pPr>
            <a:r>
              <a:t>Historia: Colapso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40312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13/20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1914-1918: La guerra destruye el sistema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73736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Fuerza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Antes de 1914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Durante/Despues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Tecnologia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Rutas abiertas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Bloqueos, submarinos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Reglas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Libre comercio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Controles, racionamiento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Poder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UK hegemonico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UK debilitado, fragmentacion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B5563"/>
                </a:solidFill>
              </a:defRPr>
            </a:pPr>
            <a:r>
              <a:t>Evidencia: el indice cae de 100 (1913) a 75 (1918) = -25% en 4 anos.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E7EB"/>
                </a:solidFill>
              </a:defRPr>
            </a:pPr>
            <a:r>
              <a:t>Historia: Colapso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40312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14/20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1929-1932: La Gran Depresion termina la globalizacion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111827"/>
                </a:solidFill>
              </a:defRPr>
            </a:pPr>
            <a:r>
              <a:t>Secuencia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Crisis bancaria en EUA -&gt; caida de demanda global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Respuesta: proteccionismo competitivo (Smoot-Hawley 1930)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Represalias: cada pais sube aranceles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Bloques monetarios: area libra, area dolar, area marco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200"/>
              </a:spcBef>
              <a:defRPr sz="1800" b="1">
                <a:solidFill>
                  <a:srgbClr val="111827"/>
                </a:solidFill>
              </a:defRPr>
            </a:pPr>
            <a:r>
              <a:t>Resultado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Cada pais intenta 'exportar desempleo'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El comercio colapsa mas rapido que la produccion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El indice cae de 133 (1929) a 95 (1932) = -29% en 3 anos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B5563"/>
                </a:solidFill>
              </a:defRPr>
            </a:pPr>
            <a:r>
              <a:t>Leccion: las reglas importan - el proteccionismo competitivo destruye comercio.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E7EB"/>
                </a:solidFill>
              </a:defRPr>
            </a:pPr>
            <a:r>
              <a:t>Historia: Colapso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40312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15/20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Tres lecciones del colapso 1914-1932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111827"/>
                </a:solidFill>
              </a:defRPr>
            </a:pPr>
            <a:r>
              <a:t>1. La tecnologia no alcanza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Los barcos seguian existiendo en 1930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Pero el comercio cayo igual - faltaban reglas y confianza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200"/>
              </a:spcBef>
              <a:defRPr sz="1800" b="1">
                <a:solidFill>
                  <a:srgbClr val="111827"/>
                </a:solidFill>
              </a:defRPr>
            </a:pPr>
            <a:r>
              <a:t>2. Las reglas pueden destruir comercio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Aranceles altos + represalias = espiral descendente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Sin coordinacion, todos pierden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200"/>
              </a:spcBef>
              <a:defRPr sz="1800" b="1">
                <a:solidFill>
                  <a:srgbClr val="111827"/>
                </a:solidFill>
              </a:defRPr>
            </a:pPr>
            <a:r>
              <a:t>3. Sin hegemon, el sistema se fragmenta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UK ya no podia liderar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EUA no queria hacerlo (aun)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Resultado: bloques rivales, no sistema 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B5563"/>
                </a:solidFill>
              </a:defRPr>
            </a:pPr>
            <a:r>
              <a:t>Pregunta: estamos viendo algo similar hoy (2018-2024)?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E7EB"/>
                </a:solidFill>
              </a:defRPr>
            </a:pPr>
            <a:r>
              <a:t>Historia: Reconstruccion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40312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16/20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1945-1973: EUA asume el rol hegemonico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73736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UK (pre-1914)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EUA (post-1945)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Moneda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Libra esterlina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Dolar (Bretton Woods)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Instituciones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Tratados bilaterales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FMI, Banco Mundial, GATT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Seguridad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Royal Navy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US Navy + OTAN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Apertura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Unilateral 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Multilateral (rondas GATT)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B5563"/>
                </a:solidFill>
              </a:defRPr>
            </a:pPr>
            <a:r>
              <a:t>El comercio/PIB mundial supera el nivel de 1913 recien en los anos 1970.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E7EB"/>
                </a:solidFill>
              </a:defRPr>
            </a:pPr>
            <a:r>
              <a:t>Historia: Reconstruccion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40312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17/20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1973-2008: La segunda globalizacion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111827"/>
                </a:solidFill>
              </a:defRPr>
            </a:pPr>
            <a:r>
              <a:t>Cambios estructurales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Fin de Bretton Woods (1971) -&gt; tipos de cambio flotantes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Contenedores, jets, internet -&gt; costos colapsan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China entra a OMC (2001) -&gt; 'fabrica del mundo'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200"/>
              </a:spcBef>
              <a:defRPr sz="1800" b="1">
                <a:solidFill>
                  <a:srgbClr val="111827"/>
                </a:solidFill>
              </a:defRPr>
            </a:pPr>
            <a:r>
              <a:t>Resultado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Comercio crece 2x mas rapido que PIB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Trade/GDP mundial: 25% (1970) -&gt; 60% (2008)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200"/>
              </a:spcBef>
              <a:defRPr sz="1800" b="1">
                <a:solidFill>
                  <a:srgbClr val="111827"/>
                </a:solidFill>
              </a:defRPr>
            </a:pPr>
            <a:r>
              <a:t>Pero...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La integracion genera ganadores y perdedores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Centro vs periferia: quien captura el valor?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Esto lo veremos con Prebisch (Clase 11)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E7EB"/>
                </a:solidFill>
              </a:defRPr>
            </a:pPr>
            <a:r>
              <a:t>Historia: Reconstruccion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40312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18/20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2008-hoy: El fin de la globalizacion?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73736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Periodo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Evento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Impacto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2008-09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Crisis financiera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Comercio cae 12%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2010-16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Recuperacion lenta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Comercio = PIB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2018-20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Guerra comercial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Aranceles EUA-China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2020-22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Pandemia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Disrupcion cadenas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2022-hoy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Guerra Ucrania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Nearshoring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B5563"/>
                </a:solidFill>
              </a:defRPr>
            </a:pPr>
            <a:r>
              <a:t>Pregunta abierta: Estamos en otro colapso tipo 1914-1932 o es un ajuste?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E7EB"/>
                </a:solidFill>
              </a:defRPr>
            </a:pPr>
            <a:r>
              <a:t>Cierre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40312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19/20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Lo que nos llevamos de esta clase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111827"/>
                </a:solidFill>
              </a:defRPr>
            </a:pPr>
            <a:r>
              <a:t>Un grafico para ver el siglo XIX-XX de un vistazo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Indice 1800-1938: auge, pico, colapso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200"/>
              </a:spcBef>
              <a:defRPr sz="1800" b="1">
                <a:solidFill>
                  <a:srgbClr val="111827"/>
                </a:solidFill>
              </a:defRPr>
            </a:pPr>
            <a:r>
              <a:t>Un marco para analizar cualquier periodo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Tecnologia + Reglas + Poder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Aplicable a 1870, 1930, o 2024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200"/>
              </a:spcBef>
              <a:defRPr sz="1800" b="1">
                <a:solidFill>
                  <a:srgbClr val="111827"/>
                </a:solidFill>
              </a:defRPr>
            </a:pPr>
            <a:r>
              <a:t>Una leccion del colapso 1914-1932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La integracion no es automatica ni irreversible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Las reglas y la coordinacion importan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200"/>
              </a:spcBef>
              <a:defRPr sz="1800" b="1">
                <a:solidFill>
                  <a:srgbClr val="111827"/>
                </a:solidFill>
              </a:defRPr>
            </a:pPr>
            <a:r>
              <a:t>Una pregunta abierta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Que determina si un pais gana o pierde con el comercio?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Las teorias (Smith, Ricardo, H-O, Prebisch) responden esto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E7EB"/>
                </a:solidFill>
              </a:defRPr>
            </a:pPr>
            <a:r>
              <a:t>Cierre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40312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20/20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Proxima clase: Balanza de pagos y tipo de cambio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111827"/>
                </a:solidFill>
              </a:defRPr>
            </a:pPr>
            <a:r>
              <a:t>Temas Clase 2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Cuenta corriente y cuenta financiera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Tipo de cambio nominal y real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Que significa 'competitividad externa'?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Enfoques desarrollistas sobre atraso cambiario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200"/>
              </a:spcBef>
              <a:defRPr sz="1800" b="1">
                <a:solidFill>
                  <a:srgbClr val="111827"/>
                </a:solidFill>
              </a:defRPr>
            </a:pPr>
            <a:r>
              <a:t>Lectura obligatoria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Krugman, Obstfeld &amp; Melitz - Capitulo 1 (Introduccion)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200"/>
              </a:spcBef>
              <a:defRPr sz="1800" b="1">
                <a:solidFill>
                  <a:srgbClr val="111827"/>
                </a:solidFill>
              </a:defRPr>
            </a:pPr>
            <a:r>
              <a:t>Lectura opcional (traer un grafico para comentar)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WTO World Trade Report 2024 (resumen ejecutivo)</a:t>
            </a:r>
          </a:p>
          <a:p>
            <a:pPr>
              <a:spcBef>
                <a:spcPts val="600"/>
              </a:spcBef>
              <a:defRPr sz="1600">
                <a:solidFill>
                  <a:srgbClr val="111827"/>
                </a:solidFill>
              </a:defRPr>
            </a:pPr>
            <a:r>
              <a:t>  UNCTAD Global Trade Update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